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9" r:id="rId11"/>
    <p:sldId id="270" r:id="rId12"/>
    <p:sldId id="271" r:id="rId13"/>
    <p:sldId id="272" r:id="rId14"/>
    <p:sldId id="265" r:id="rId15"/>
    <p:sldId id="267" r:id="rId16"/>
    <p:sldId id="268" r:id="rId17"/>
  </p:sldIdLst>
  <p:sldSz cx="12192000" cy="6858000"/>
  <p:notesSz cx="6858000" cy="9144000"/>
  <p:embeddedFontLst>
    <p:embeddedFont>
      <p:font typeface="Poppins" panose="020B060402020202020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Inter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1BD166-FB60-41AE-B238-E199060C5440}">
  <a:tblStyle styleId="{E61BD166-FB60-41AE-B238-E199060C54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1667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6417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741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88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410325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Confidential | Project Overview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33555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Union Management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05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Automating Operations &amp; Ensuring Transparency in Union Processes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523875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62175"/>
            <a:ext cx="523875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3051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8957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union management relies on manual paperwork and opaque decision-making. This leads to administrative burden, lack of trust, and difficulty in compliance reporting.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3051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8957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comprehensive web application that digitizes the entire lifecycle of union activities—from member registration to democratic voting and transparent financial tracking.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09775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09775"/>
            <a:ext cx="3492549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CORE OBJECTIVES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31527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Transparency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374332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 access to union health, funds, and decision-making processes for all registered members, building long-term organizational trust.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40324" y="31527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Automation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40324" y="374332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Reducing manual effort by automating member tracking, fee collection, and compliance reporting through a centralized cloud engine.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18624" y="31527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Democracy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18624" y="374332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every voice counts through a secure, tamper-proof digital voting mechanism for resolutions and leadership elections.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4479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4479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447925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1190625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REAL-TIME ANALYTICS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19075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Command Center UI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65747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dashboard serves as the nerve center for union administrators. It visualizes critical data points such as active membership counts, pending grievances, and financial status in real-time.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25767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Benefit: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an immediate "pulse check" of the union's health, allowing leadership to make data-driven decisions without digging through spreadsheets.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14587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MEMBER REGISTRY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4145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Roster Management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8813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Move away from physical ledgers. The system maintains a secure, digital database of all members, including roles, departments, and historical join dates.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14587"/>
            <a:ext cx="19240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000125" y="3986212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Instant member lookup and updates.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4471987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Role-based access control (Admin vs User).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4957762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Zero-latency record management.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0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8633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GRIEVANCE REDRESSAL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000125" y="2947987"/>
            <a:ext cx="49053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Ticket Tracking: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Members submit grievances directly through the portal, categorizing by priority.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00125" y="3929062"/>
            <a:ext cx="49053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Status Updates: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Issues tracked through stages (Pending, In Progress, Resolved) with full visibility.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715125" y="2947987"/>
            <a:ext cx="49053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Accountability: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Every action taken on a grievance is logged to ensure leadership responsiveness.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715125" y="3929062"/>
            <a:ext cx="4905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Direct Communication:</a:t>
            </a: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Integrated commenting for clarification and resolution documentation.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65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57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976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957637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14587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AUTOMATED REPORTING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24145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One-Click Compliance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28813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Generating reports for meetings or regulatory compliance often takes hours. Our system automates this completely, allowing for instant generation of: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14587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000125" y="3986212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Financial expenditures and fund allocation.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000125" y="4471987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Voting outcomes and participation rates.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00125" y="4957762"/>
            <a:ext cx="48101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Resolved and pending grievance metrics.</a:t>
            </a:r>
            <a:endParaRPr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05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8633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MEASURABLE IMPACT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2981325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45053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Reduction in Paperwork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381750" y="248319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Efficiency Redefined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81750" y="2949922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digitizing the union operations, we've seen a dramatic shift in how time and resources are allocated. Leadership can focus on member welfare rather than administrative tasks.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81750" y="4454872"/>
            <a:ext cx="102012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4978747"/>
            <a:ext cx="971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Transparency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734300" y="4454872"/>
            <a:ext cx="129016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3x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734300" y="4978747"/>
            <a:ext cx="1228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Resolution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ROADMAP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4071044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1672530" y="35947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510733" y="4109144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571500" y="4575869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Member Registry &amp; Core Dashboard</a:t>
            </a:r>
            <a:endParaRPr dirty="0"/>
          </a:p>
        </p:txBody>
      </p:sp>
      <p:sp>
        <p:nvSpPr>
          <p:cNvPr id="259" name="Google Shape;259;p23"/>
          <p:cNvSpPr/>
          <p:nvPr/>
        </p:nvSpPr>
        <p:spPr>
          <a:xfrm>
            <a:off x="4545210" y="35947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3383413" y="4109144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3444179" y="4597460"/>
            <a:ext cx="243066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Payment &amp; Admin module</a:t>
            </a:r>
            <a:endParaRPr dirty="0"/>
          </a:p>
        </p:txBody>
      </p:sp>
      <p:sp>
        <p:nvSpPr>
          <p:cNvPr id="262" name="Google Shape;262;p23"/>
          <p:cNvSpPr/>
          <p:nvPr/>
        </p:nvSpPr>
        <p:spPr>
          <a:xfrm>
            <a:off x="7417891" y="35947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6256094" y="4109144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316860" y="4667859"/>
            <a:ext cx="243066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Grievance &amp; 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Update the social activities</a:t>
            </a:r>
            <a:endParaRPr dirty="0"/>
          </a:p>
        </p:txBody>
      </p:sp>
      <p:sp>
        <p:nvSpPr>
          <p:cNvPr id="265" name="Google Shape;265;p23"/>
          <p:cNvSpPr/>
          <p:nvPr/>
        </p:nvSpPr>
        <p:spPr>
          <a:xfrm>
            <a:off x="10290571" y="35947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9128774" y="4109144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9189541" y="4575869"/>
            <a:ext cx="243066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 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2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ms and email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410325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Confidential | Project Overview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335559"/>
            <a:ext cx="11601450" cy="2277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Union App </a:t>
            </a:r>
            <a:r>
              <a:rPr lang="en-US" sz="6000" b="1" dirty="0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Registration Experience Overview of</a:t>
            </a:r>
            <a:br>
              <a:rPr lang="en-US" sz="6000" b="1" dirty="0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Phage 1</a:t>
            </a:r>
          </a:p>
          <a:p>
            <a:pPr lvl="0" algn="ctr"/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059"/>
            <a:ext cx="7620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08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410325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Confidential | Project Overview 2024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059"/>
            <a:ext cx="7620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2" y="738187"/>
            <a:ext cx="94773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7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410325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Confidential | Project Overview 2024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059"/>
            <a:ext cx="7620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719137"/>
            <a:ext cx="96012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20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6410325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Confidential | Project Overview 2024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059"/>
            <a:ext cx="7620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738187"/>
            <a:ext cx="94678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5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smtClean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MEMBER </a:t>
            </a:r>
            <a:r>
              <a:rPr lang="en-US" sz="33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LIST</a:t>
            </a:r>
            <a:endParaRPr dirty="0"/>
          </a:p>
        </p:txBody>
      </p:sp>
      <p:sp>
        <p:nvSpPr>
          <p:cNvPr id="215" name="Google Shape;215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22"/>
          <p:cNvGraphicFramePr/>
          <p:nvPr>
            <p:extLst>
              <p:ext uri="{D42A27DB-BD31-4B8C-83A1-F6EECF244321}">
                <p14:modId xmlns:p14="http://schemas.microsoft.com/office/powerpoint/2010/main" val="298809754"/>
              </p:ext>
            </p:extLst>
          </p:nvPr>
        </p:nvGraphicFramePr>
        <p:xfrm>
          <a:off x="571500" y="2012602"/>
          <a:ext cx="11048975" cy="3343225"/>
        </p:xfrm>
        <a:graphic>
          <a:graphicData uri="http://schemas.openxmlformats.org/drawingml/2006/table">
            <a:tbl>
              <a:tblPr firstRow="1" bandRow="1">
                <a:noFill/>
                <a:tableStyleId>{E61BD166-FB60-41AE-B238-E199060C5440}</a:tableStyleId>
              </a:tblPr>
              <a:tblGrid>
                <a:gridCol w="13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9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5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Member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Office/Department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Designation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Join 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#U-1024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/>
                        <a:t>Arun</a:t>
                      </a:r>
                      <a:r>
                        <a:rPr lang="en-US" dirty="0" smtClean="0"/>
                        <a:t> Kale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Headquarters / 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Senior Analyst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2015-03-12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#U-1025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Swarup</a:t>
                      </a:r>
                      <a:r>
                        <a:rPr lang="en-US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Solanke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East Branch / 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Admin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2018-07-22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#U-1026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Priya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Patel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West Branch / HR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Recruiter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2023-01-05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Pending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#U-1027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David Rossi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Logistics Hub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Coordinator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2019-11-30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#U-1028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Sadhana</a:t>
                      </a:r>
                      <a:r>
                        <a:rPr lang="en-US" sz="1350" b="0" i="0" u="none" strike="noStrike" cap="none" dirty="0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 smtClean="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Kolhe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 Dept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2021-05-18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Active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7" name="Google Shape;217;p22"/>
          <p:cNvSpPr txBox="1"/>
          <p:nvPr/>
        </p:nvSpPr>
        <p:spPr>
          <a:xfrm>
            <a:off x="571500" y="5498752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Showing top records from 1,240 total members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3131790"/>
            <a:ext cx="1379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950987" y="3131790"/>
            <a:ext cx="2051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001988" y="3131790"/>
            <a:ext cx="2551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553497" y="3131790"/>
            <a:ext cx="2002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8555682" y="3131790"/>
            <a:ext cx="1709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0264824" y="3131790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3684240"/>
            <a:ext cx="1379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950987" y="3684240"/>
            <a:ext cx="2051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001988" y="3684240"/>
            <a:ext cx="2551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553497" y="3684240"/>
            <a:ext cx="2002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555682" y="3684240"/>
            <a:ext cx="1709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264824" y="3684240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4236690"/>
            <a:ext cx="1379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950987" y="4236690"/>
            <a:ext cx="2051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001988" y="4236690"/>
            <a:ext cx="2551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553497" y="4236690"/>
            <a:ext cx="2002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8555682" y="4236690"/>
            <a:ext cx="1709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10264824" y="4236690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4789140"/>
            <a:ext cx="1379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950987" y="4789140"/>
            <a:ext cx="2051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001988" y="4789140"/>
            <a:ext cx="2551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553497" y="4789140"/>
            <a:ext cx="2002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555682" y="4789140"/>
            <a:ext cx="1709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10264824" y="4789140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5341590"/>
            <a:ext cx="1379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50987" y="5341590"/>
            <a:ext cx="2051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001988" y="5341590"/>
            <a:ext cx="2551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553497" y="5341590"/>
            <a:ext cx="20021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8555682" y="5341590"/>
            <a:ext cx="1709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0264824" y="5341590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64173"/>
            <a:ext cx="11049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295275" y="1517302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279365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43499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contact@unionsystem.com</a:t>
            </a:r>
            <a:endParaRPr dirty="0"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48452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www.unionsystem.com</a:t>
            </a:r>
            <a:endParaRPr/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3925" y="440709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0137" y="4902398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265762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34423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34328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34328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42176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42176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70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28004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https://cdn.dribbble.com/userupload/44075575/file/original-c347f3abbb947b6bf51671f43f83f8c7.webp?resize=752x&amp;vertical=center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30462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id="296" name="Google Shape;29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918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666875" y="35852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https://images.ui8.net/uploads/preview-7_1737012951188.png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1666875" y="38309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ui8.net</a:t>
            </a:r>
            <a:endParaRPr/>
          </a:p>
        </p:txBody>
      </p:sp>
      <p:pic>
        <p:nvPicPr>
          <p:cNvPr id="299" name="Google Shape;29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757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666875" y="437004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https://static.vecteezy.com/system/resources/previews/016/656/817/large_2x/business-process-abstract-diagram-with-gears-and-icons-workflow-and-automation-technology-concept-photo.jpg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481384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554</Words>
  <Application>Microsoft Office PowerPoint</Application>
  <PresentationFormat>Widescreen</PresentationFormat>
  <Paragraphs>108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Poppins</vt:lpstr>
      <vt:lpstr>Inter Medium</vt:lpstr>
      <vt:lpstr>Inter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7</cp:revision>
  <dcterms:modified xsi:type="dcterms:W3CDTF">2026-02-01T04:52:17Z</dcterms:modified>
</cp:coreProperties>
</file>